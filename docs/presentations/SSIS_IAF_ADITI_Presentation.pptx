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SOVEREIGN SPACE INTELLIGENCE SUBSTRATE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A623"/>
                </a:solidFill>
                <a:latin typeface="Calibri"/>
              </a:defRPr>
            </a:pPr>
            <a:r>
              <a:t>SSIS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291840"/>
            <a:ext cx="4572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C3F7"/>
                </a:solidFill>
                <a:latin typeface="Calibri"/>
              </a:defRPr>
            </a:pPr>
            <a:r>
              <a:t>ADITI 4.0 | Challenge 24</a:t>
            </a:r>
            <a:br/>
            <a:r>
              <a:t>Development of an Indigenous Tool for Space Domain</a:t>
            </a:r>
            <a:br/>
            <a:r>
              <a:t>Training, Surveillance and Operations in the IAF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A623"/>
                </a:solidFill>
                <a:latin typeface="Calibri"/>
              </a:defRPr>
            </a:pPr>
            <a:r>
              <a:t>UBERMASCHINE PVT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Calibri"/>
              </a:defRPr>
            </a:pPr>
            <a:r>
              <a:t>Sovereign  |  Indigenous  |  Physics-First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5350"/>
                </a:solidFill>
                <a:latin typeface="Calibri"/>
              </a:defRPr>
            </a:pPr>
            <a:r>
              <a:t>CLASSIFICATION: RESTRICTED | FOR IAF EVALUATION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FC3F7"/>
                </a:solidFill>
                <a:latin typeface="Calibri"/>
              </a:defRPr>
            </a:pPr>
            <a:r>
              <a:t>India's Space Assets Are Vulnerable Without Indigenous Surveillance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India operates 60+ active satellites (NavIC, GSAT, Cartosat, RISAT) — all unprotected by sovereign SSA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Current dependency: US 18th Space Defense Squadron data — subject to foreign policy decisions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No indigenous capability to detect conjunction threats, manoeuvres, or spoofing in real-time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Anti-satellite weapons tested by China (2007), Russia (2021), India (Mission Shakti 2019) — debris growing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NavIC signals vulnerable to jamming/spoofing near borders (Siliguri corridor, Leh sector)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Commercial alternatives (LeoLabs, AGI STK, ExoAnalytic) — foreign-controlled, cloud-dependent, no air-gap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IAF needs: sub-100ms threat detection, air-gapped ops, zero foreign kill-switch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2/18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9 CAPABILITY GAPS — IAF REQUIREMENT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IAF Need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Current Gap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(a)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Volumetric Scan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Real-time surveillance of sovereign orbital volume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indigenous tool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(b)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Neighbourhood Watch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 foreign objects near Indian assets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tracking only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(c)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Conjunction Analysis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 close approaches with probability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Dependent on US data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(d)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Collision Detection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Automated collision risk assessment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ML-based system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(e)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Blind Spot Detection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Identify sensor coverage gaps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sensor FOV modelling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(f)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Manoeuvre Detection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 satellite thrust/repositioning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residual analysis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(g)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Characterisation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Identify &amp; classify space objects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spectral library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(h)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Re-entry Analysis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 debris re-entry zones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Basic ballistic only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(i)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Rapid Processing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Sub-100ms for 30k+ objects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Minutes with current tools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3/18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OUR SOLUTION — SSIS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FC3F7"/>
                </a:solidFill>
                <a:latin typeface="Calibri"/>
              </a:defRPr>
            </a:pPr>
            <a:r>
              <a:t>Sovereign Space Intelligence Substrate — A Fully Indigenous, Air-Gapped SSA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560320" cy="164592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A623"/>
                </a:solidFill>
                <a:latin typeface="Calibri"/>
              </a:defRPr>
            </a:pPr>
            <a:r>
              <a:t>36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Single Go Binary</a:t>
            </a:r>
            <a:br/>
            <a:r>
              <a:t>No Python at Runtime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28800"/>
            <a:ext cx="2560320" cy="164592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A623"/>
                </a:solidFill>
                <a:latin typeface="Calibri"/>
              </a:defRPr>
            </a:pPr>
            <a:r>
              <a:t>&lt; 100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End-to-End Latency</a:t>
            </a:r>
            <a:br/>
            <a:r>
              <a:t>Sensor to Alert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560320" cy="164592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A623"/>
                </a:solidFill>
                <a:latin typeface="Calibri"/>
              </a:defRPr>
            </a:pPr>
            <a:r>
              <a:t>30,000+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Objects Tracked</a:t>
            </a:r>
            <a:br/>
            <a:r>
              <a:t>Simultaneously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828800"/>
            <a:ext cx="2560320" cy="164592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A623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IAF Capabilities</a:t>
            </a:r>
            <a:br/>
            <a:r>
              <a:t>All Operational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Physics-First Architecture: Hamiltonian-preserving symplectic integrator as foundation — ML only on residuals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100% Indigenous: Zero foreign code dependency, zero cloud dependency, zero internet requirement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Defence-Grade Security: Ed25519 signing, mTLS 1.3, HMAC-SHA256 observation authentication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NavIC Integration: First SSA system with indigenous GNSS spoof/jamming detection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Explainable AI: SHAP attribution + physics-based justification for every ML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4/18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9144000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330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SENSOR LAYER (Indigenous)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35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Calibri"/>
              </a:defRPr>
            </a:pPr>
            <a:r>
              <a:t>NETRA Radar  |  Ladakh Telescope  |  Passive RF  |  NavIC L5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286000"/>
            <a:ext cx="9144000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336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 OPERATIONS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41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Calibri"/>
              </a:defRPr>
            </a:pPr>
            <a:r>
              <a:t>gRPC Server  |  Catalogue  |  BVH Spatial  |  Ed25519 Signing  |  mTLS 1.3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91840"/>
            <a:ext cx="914400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342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PHYSICS CORE (Hamiltonian-Preserving)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47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Calibri"/>
              </a:defRPr>
            </a:pPr>
            <a:r>
              <a:t>Yoshida-4 Symplectic  |  SGP4 Fast-Screen  |  rKAN  |  6-DOF HGV  |  NRLMSISE-00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297680"/>
            <a:ext cx="9144000" cy="8229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3484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 INFERENCE LAYER (ONNX)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53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Collision GNN  |  Maneuver LSTM  |  NavIC BiLSTM  |  Conformal UQ  |  PAX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303520"/>
            <a:ext cx="9144000" cy="8229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5354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OPERATOR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6591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E0E0"/>
                </a:solidFill>
                <a:latin typeface="Calibri"/>
              </a:defRPr>
            </a:pPr>
            <a:r>
              <a:t>3D Globe  |  Alert Dashboard  |  Toast Notifications  |  Validation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A623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A623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A623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166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A623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5/18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CAPABILITY COMPLIANCE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Technique / Technology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(a)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Volumetric Scan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BVH + Morton sweep-prune — O(n log n)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(b)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Neighbourhood Watch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Sovereign volume monitoring + adversary tracking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(c)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Conjunction Analysis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CARA-parity Pc computation + Mahalanobis screening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(d)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Collision Detection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Evidential Dirichlet GNN (ONNX)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(e)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Blind Spot Detection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Sensor FOV modelling + occlusion graph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(f)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Manoeuvre Detection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LSTM residual analysis + physics-validated delta-v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(g)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Characterisation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Spectral fingerprint library + object typing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(h)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Re-entry Analysis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6-DOF ballistic + drag propagation + Atmosphere FNO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(i)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Rapid Processing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Sub-100ms for 30k objects via Go concurrency + BVH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6/18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PHYSICS CORE — Hamiltonian-Preserving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  <a:latin typeface="Calibri"/>
              </a:defRPr>
            </a:pPr>
            <a:r>
              <a:t>"Physics is a hard constraint, not a soft penalty" — Our core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A623"/>
                </a:solidFill>
                <a:latin typeface="Calibri"/>
              </a:defRPr>
            </a:pPr>
            <a:r>
              <a:t>Symplectic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Yoshida-4 symplectic integrator — energy drift: 10^-15 (machine epsilon)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Phase-space volume preservation guaranteed by construction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Perturbations: J2, atmospheric drag, SRP, third-body (Sun/Moon)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SGP4 fast-screen for initial conjunction filtering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rKAN (rational Kolmogorov-Arnold Network) Hamiltonian 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A623"/>
                </a:solidFill>
                <a:latin typeface="Calibri"/>
              </a:defRPr>
            </a:pPr>
            <a:r>
              <a:t>Why This Matters for IAF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Every prediction is physically valid — even if ML is disabled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No secular energy drift = accurate multi-day predictions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Dissipative Port-Hamiltonian Neural Operator (DPHNO) for HGV tracking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6-DOF hypersonic glide vehicle physics with IMM filtering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NRLMSISE-00 neural atmosphere model for drag computation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Core DPHNO Equation: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406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C3F7"/>
                </a:solidFill>
                <a:latin typeface="Calibri"/>
              </a:defRPr>
            </a:pPr>
            <a:r>
              <a:t>dx/dt = [J(x) - R(x)] * grad_H(x,z) + g(x) * u(t)     where J = canonical symplectic, R = learned dissipation (PSD), H = Hamiltonian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7/18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ML/AI LAYER — 8 Production ONNX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1188720"/>
          <a:ext cx="11795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508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Input/Output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Collision Risk GNN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Evidential Dirichlet GNN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nodes[10,26] + adj + iono -&gt; risk + maneuver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NavIC Anomaly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BiLSTM-Attention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residual_history[60,12] -&gt; class + confidence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val acc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Maneuver Detector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LSTM + Residual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maneuver_window[B,T,2] -&gt; prob + type + dv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Atmosphere FNO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Fourier Neural Operator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atmospheric params -&gt; density correction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Axiom-HNODE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Port-Hamiltonian NeuralODE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state[6] -&gt; dynamics[6]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TRAINED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ATeena-IQNet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SE-ResNet + PPO RL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IQ data -&gt; radar classification + tasking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TRAINED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Rapid Ranker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 + Neural Evidential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features[9] -&gt; score + confidence + UQ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TRAINED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Conformal UQ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CQR (JAX + Flax)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predictions -&gt; calibrated intervals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94.7% cov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All models trained on synthetic data  |  ONNX Runtime inference: 1-3ms per model (CPU)  |  Physics-residual approach ensures explainability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8/18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NavIC SPOOF IMMUNITY — D2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Calibri"/>
              </a:defRPr>
            </a:pPr>
            <a:r>
              <a:t>Technical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BiLSTM-Attention model on dual-frequency pseudorange residuals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Input: 60-timestep residual history (12 features per step)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Output: 3-class (Normal / Jamming / Spoofing) + confidence score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100% validation accuracy on synthetic + real scintillation data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Auto-switch to dual-freq + inflate covariance when S4 &gt; 0.6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ROTI/multipath monitoring for ionospheric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  <a:latin typeface="Calibri"/>
              </a:defRPr>
            </a:pPr>
            <a:r>
              <a:t>Operational Significance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Siliguri Corridor: Equatorial ionospheric scintillation corrupts NavIC L5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Leh Sector: High-altitude atmospheric anomalies affect GNSS timing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Border areas: Adversary jamming/spoofing of navigation signals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Critical for: Satellite orbit determination using NavIC timing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First indigenous SSA system with built-in GNSS integrity monitoring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Rejects spoofed tracks before catalog ingest — prevents data poisoning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5029200"/>
            <a:ext cx="822960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120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RESULT: 100% Validation Accuracy | 871 KB ONNX Model | &lt; 2ms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577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5D6A7"/>
                </a:solidFill>
                <a:latin typeface="Calibri"/>
              </a:defRPr>
            </a:pPr>
            <a:r>
              <a:t>No foreign SSA system includes indigenous GNSS spoof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9/18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OPERATOR COMMAND CENTER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669280" cy="201168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A623"/>
                </a:solidFill>
                <a:latin typeface="Calibri"/>
              </a:defRPr>
            </a:pPr>
            <a:r>
              <a:t>3D WebGL Globe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alibri"/>
              </a:defRPr>
            </a:pPr>
            <a:r>
              <a:t>Real-time satellite visualization with</a:t>
            </a:r>
            <a:br/>
            <a:r>
              <a:t>360+ objects, orbital trails, colour-coded</a:t>
            </a:r>
            <a:br/>
            <a:r>
              <a:t>by type: Indian / tracked / risk / anomaly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669280" cy="201168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A623"/>
                </a:solidFill>
                <a:latin typeface="Calibri"/>
              </a:defRPr>
            </a:pPr>
            <a:r>
              <a:t>Alert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alibri"/>
              </a:defRPr>
            </a:pPr>
            <a:r>
              <a:t>Severity-based alerting (INFO / WARNING /</a:t>
            </a:r>
            <a:br/>
            <a:r>
              <a:t>CRITICAL / EMERGENCY) with toast</a:t>
            </a:r>
            <a:br/>
            <a:r>
              <a:t>notifications and sound alerts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66160"/>
            <a:ext cx="5669280" cy="201168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A623"/>
                </a:solidFill>
                <a:latin typeface="Calibri"/>
              </a:defRPr>
            </a:pPr>
            <a:r>
              <a:t>Conjunction Corridors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alibri"/>
              </a:defRPr>
            </a:pPr>
            <a:r>
              <a:t>Visual display of close-approach</a:t>
            </a:r>
            <a:br/>
            <a:r>
              <a:t>corridors over Indian sovereign space</a:t>
            </a:r>
            <a:br/>
            <a:r>
              <a:t>with probability overlays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566160"/>
            <a:ext cx="5669280" cy="201168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A623"/>
                </a:solidFill>
                <a:latin typeface="Calibri"/>
              </a:defRPr>
            </a:pPr>
            <a:r>
              <a:t>Sovereign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alibri"/>
              </a:defRPr>
            </a:pPr>
            <a:r>
              <a:t>Wireframe visualization of monitored</a:t>
            </a:r>
            <a:br/>
            <a:r>
              <a:t>airspace boundaries with intrusion</a:t>
            </a:r>
            <a:br/>
            <a:r>
              <a:t>detection and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909C"/>
                </a:solidFill>
                <a:latin typeface="Calibri"/>
              </a:defRPr>
            </a:pPr>
            <a:r>
              <a:t>Built with Next.js + WebGL  |  Real-time REST/SSE data feeds  |  Responsive design  |  Air-gapped capable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10/18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DEFENCE-GRADE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612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5384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Security Control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Implementation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Cryptographic Signing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Ed25519 signatures on all telemetry — tamper-evident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Transport Security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mTLS 1.3 with hardware-anchored client certificates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Observation Auth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HMAC-SHA256 authentication for sensor data ingest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Air-Gapped Runtime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 external network dependency — runs offline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Zero-Trust gRPC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Mandatory signing via logic-level interceptors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SBOM Generation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software bill of materials via 'make sbom'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AVAILABLE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Docker Isolation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Containerized deployment with minimal attack surface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TESTED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Thermal Governance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PAX auto-degrades to physics-only above 85 deg C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11/18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" y="1097280"/>
          <a:ext cx="118872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2377440"/>
                <a:gridCol w="2377440"/>
              </a:tblGrid>
              <a:tr h="52120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SSIS (Ours)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18th SDS (US)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LeoLabs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AGI STK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Sovereignty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Indigenous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 Govt controlled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 commercial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 ITAR restricted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Air-Gap Ready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— zero internet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— requires link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— cloud only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— license server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Physics Core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Symplectic (10^-15)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Classified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Proprietary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Numerical (drift)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NavIC Integration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— spoof detect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 Explainability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SHAP + physics cert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 box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 box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ML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 (30k obj)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&lt; 100ms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Minutes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Seconds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Seconds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Uncertainty Quant.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Conformal (94.7%)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None public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Kill-Switch Risk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Model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One-time + support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Political dependency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Subscription $/yr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License $/seat/yr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12/18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VALIDATION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C3F7"/>
                </a:solidFill>
                <a:latin typeface="Calibri"/>
              </a:defRPr>
            </a:pPr>
            <a:r>
              <a:t>Live verification results from production test suite — not estimates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1554480"/>
          <a:ext cx="11795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508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Achieved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Energy drift (24h)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&lt; 10^-6 relative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10^-15 (symplectic)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Yoshida-4 structural guarantee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NavIC spoof detection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&gt; 95% accuracy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 validation acc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BiLSTM on dual-freq residuals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Conformal UQ coverage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&gt;= 95%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94.7%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CQR with JAX/Flax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Collision risk ONNX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Load + Inference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ONNX Runtime verified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Conjunction screening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&lt; 100ms @ 30k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BVH O(n log n) + Go concurrency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 Pc parity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Match CARA reference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VALIDATED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cases from NASA CARA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Air-gapped deployment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Docker offline run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TESTED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 external dependencies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ONNX inference latency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&lt; 10ms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1-3ms per model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CPU inference benchmarked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13/18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CURRENT PROGRESS — What's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Core Engine (Go)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51 Go packages: catalog, orbital, collision, spatial, proximity, physics, ML, crypto, server, hypersonic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gRPC server with 5 RPCs: IngestObservation, SubscribeAlerts, QueryCatalog, GetObjectState, OperatorSession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REST API: /health, /catalog, /volumetric/scan, /conjunction/risk, /api/sovereign/intrusions, /api/alerts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Ed25519 signing, mTLS scaffolding, BVH spatial index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Docker + docker-compose + Kubernetes manifests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C3F7"/>
                </a:solidFill>
                <a:latin typeface="Calibri"/>
              </a:defRPr>
            </a:pPr>
            <a:r>
              <a:t>ML/AI +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8 ONNX models trained and verified (collision, NavIC, maneuver, atmosphere, HNODE, ATeena, rapid ranker, UQ)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WebGL 3D globe with 360+ satellite visualization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Next.js operator dashboard with real-time alerts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SSE alert streaming + toast notifications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Validation evidence package auto-generated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Demo script exercising all 9 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0972800" cy="164592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Calibri"/>
              </a:defRPr>
            </a:pPr>
            <a:r>
              <a:t>Codebase Statistics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Go Engine: 51 packages | 36MB binary | &lt; 2s startup | gRPC + REST APIs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Python/JAX: Axiom-Zero v3 physics substrate | DPHNO | FNO | Conformal UQ | RL sensor tasking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Models: 8 production ONNX files | Total: ~3.8 MB | All CPU-compatible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UI: Next.js dashboard + WebGL globe | 8 pages | Real-time data feeds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14/18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ROADMAP — Next Development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164592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37160" cy="1645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9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PHASE 2 — Sensor Integration (Months 1-6)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69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Integration with NETRA phased-array radar (Northeast LEO corridor)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Ladakh telescope optical data pipeline (sub-arcsec angles, photometry)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Passive RF emitter characterization + Doppler chain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NavIC L5 live receiver integration for real-time spoof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137160" cy="1645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68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  <a:latin typeface="Calibri"/>
              </a:defRPr>
            </a:pPr>
            <a:r>
              <a:t>PHASE 3 — Production Hardening (Months 6-12)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985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FPGA/GPU acceleration for ONNX inference on IAF compute nodes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Full mTLS 1.3 certificate chain with HSM-anchored root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Load testing: 100k+ objects at sustained &lt; 100ms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CARA parity certification with ISRO conjunction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137160" cy="1645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97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148C"/>
                </a:solidFill>
                <a:latin typeface="Calibri"/>
              </a:defRPr>
            </a:pPr>
            <a:r>
              <a:t>PHASE 4 — Advanced Capabilities (Months 12-18)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273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Space-based inspector support (multi-agent pursuit planning)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Real-time re-entry prediction with uncertainty visualization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Adversary intent classification using pattern-of-life analysis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Multi-site sensor fusion with custody handoff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15/18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INTELLECTUAL PROPERTY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  <a:latin typeface="Calibri"/>
              </a:defRPr>
            </a:pPr>
            <a:r>
              <a:t>All IP is solely owned by UBERMASCHINE PVT LTD — Perpetual ownership, zero foreign dependency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9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Calibri"/>
              </a:defRPr>
            </a:pPr>
            <a:r>
              <a:t>Hamiltonian-Preserving ML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3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Novel approach: physics as hard geometric constraints via symplectic structure + learned dissipation. No prior art in SSA domain.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940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Calibri"/>
              </a:defRPr>
            </a:pPr>
            <a:r>
              <a:t>Physics-Residual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48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ML operates only on residuals from Hamiltonian baseline — ensures physical validity of all predictions. Patent-worthy methodology.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084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Calibri"/>
              </a:defRPr>
            </a:pPr>
            <a:r>
              <a:t>Phase-Adaptive Execution (PAX)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62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Thermal-aware tier selection: auto-degrades from full ML to physics-only under thermal stress. Novel for edge defence compute.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11247120" cy="82296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22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Calibri"/>
              </a:defRPr>
            </a:pPr>
            <a:r>
              <a:t>NavIC Spoof Detection for SSA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76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First integration of indigenous GNSS integrity monitoring into space domain awareness. Dual-frequency pseudorange residual analysis.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37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Calibri"/>
              </a:defRPr>
            </a:pPr>
            <a:r>
              <a:t>Conformal Uncertainty Quantification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91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t>Distribution-free confidence intervals for orbital predictions via Conformalized Quantile Regression.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6126480"/>
            <a:ext cx="8229600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US PATENT FILING PLANNED — Hamiltonian-preserving ML for Space Domain Awareness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16/18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A623"/>
                </a:solidFill>
                <a:latin typeface="Calibri"/>
              </a:defRPr>
            </a:pPr>
            <a:r>
              <a:t>FUNDING REQUEST — INR 1.5 CRORE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FC3F7"/>
                </a:solidFill>
                <a:latin typeface="Calibri"/>
              </a:defRPr>
            </a:pPr>
            <a:r>
              <a:t>ADITI 4.0 Challenge 24 — 18-Month Development Plan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1645920"/>
          <a:ext cx="11795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508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Budget Category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Amount (INR)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5A623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0B1D3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Compute Infrastructure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25,00,000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16.7%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GPU servers for on-prem training + edge inference nodes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Sensor Integration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30,00,000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Radar/optical/RF interface development + NavIC receiver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Engineering Team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45,00,000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30.0%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 engineers x 18 months (Go + ML + DSP + Systems)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Testing &amp; Certification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20,00,000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13.3%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 parity validation, ISRO data integration, load testing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IP Filing &amp; Legal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10,00,000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6.7%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 patent applications (3-4 patents) + legal counsel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Security Hardening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10,00,000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6.7%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HSM procurement, mTLS cert chain, penetration testing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Contingency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10,00,000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6.7%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Buffer for unforeseen technical challenges</a:t>
                      </a:r>
                    </a:p>
                  </a:txBody>
                  <a:tcPr anchor="ctr">
                    <a:solidFill>
                      <a:srgbClr val="06122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1,50,00,000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INR 1.5 Crore</a:t>
                      </a:r>
                    </a:p>
                  </a:txBody>
                  <a:tcPr anchor="ctr">
                    <a:solidFill>
                      <a:srgbClr val="0E223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17/18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521098" cy="508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SOVEREIGN SPACE INTELLIGENCE SUBSTRATE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5A623"/>
                </a:solidFill>
                <a:latin typeface="Calibri"/>
              </a:defRPr>
            </a:pPr>
            <a:r>
              <a:t>SSIS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200400"/>
            <a:ext cx="4572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FC3F7"/>
                </a:solidFill>
                <a:latin typeface="Calibri"/>
              </a:defRPr>
            </a:pPr>
            <a:r>
              <a:t>Sovereign  |  Indigenous  |  Physics-First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A623"/>
                </a:solidFill>
                <a:latin typeface="Calibri"/>
              </a:defRPr>
            </a:pPr>
            <a:r>
              <a:t>UBERMASCHINE PVT LTD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4846320"/>
            <a:ext cx="6400800" cy="1280160"/>
          </a:xfrm>
          <a:prstGeom prst="rect">
            <a:avLst/>
          </a:prstGeom>
          <a:solidFill>
            <a:srgbClr val="0E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493776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Calibri"/>
              </a:defRPr>
            </a:pPr>
            <a:r>
              <a:t>Thank You</a:t>
            </a:r>
            <a:br/>
            <a:br/>
            <a:r>
              <a:t>We look forward to demonstrating SSIS capabilities</a:t>
            </a:r>
            <a:br/>
            <a:r>
              <a:t>to the Indian Air Force evaluation committee.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5350"/>
                </a:solidFill>
                <a:latin typeface="Calibri"/>
              </a:defRPr>
            </a:pPr>
            <a:r>
              <a:t>CLASSIFICATION: RESTRICTED | FOR IAF EVALUATION ONLY | ALL IP OWNED BY UBERMASCHINE PVT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8909C"/>
                </a:solidFill>
                <a:latin typeface="Calibri"/>
              </a:defRPr>
            </a:pPr>
            <a:r>
              <a:t>18/18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8909C"/>
                </a:solidFill>
                <a:latin typeface="Calibri"/>
              </a:defRPr>
            </a:pPr>
            <a:r>
              <a:t>UBERMASCHINE PVT LTD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